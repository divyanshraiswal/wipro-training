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9" r:id="rId3"/>
    <p:sldId id="270" r:id="rId4"/>
    <p:sldId id="257" r:id="rId5"/>
    <p:sldId id="260" r:id="rId6"/>
    <p:sldId id="261" r:id="rId7"/>
    <p:sldId id="262" r:id="rId8"/>
    <p:sldId id="263" r:id="rId9"/>
    <p:sldId id="264" r:id="rId10"/>
    <p:sldId id="265" r:id="rId11"/>
    <p:sldId id="266" r:id="rId12"/>
    <p:sldId id="267" r:id="rId13"/>
    <p:sldId id="269"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5" d="100"/>
          <a:sy n="65" d="100"/>
        </p:scale>
        <p:origin x="1320"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16898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3424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5742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9512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58885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23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2317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6917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065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6817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50432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235302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02280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89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95057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27959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12/17/2025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725413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119" name="Group 4118">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4108" name="Straight Connector 4107">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109" name="Straight Connector 4108">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120"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121"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122" name="Isosceles Triangle 4121">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123"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124"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125"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126" name="Isosceles Triangle 4125">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127" name="Isosceles Triangle 4126">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p:cNvSpPr>
            <a:spLocks noGrp="1"/>
          </p:cNvSpPr>
          <p:nvPr>
            <p:ph type="title"/>
          </p:nvPr>
        </p:nvSpPr>
        <p:spPr>
          <a:xfrm>
            <a:off x="1200149" y="4571999"/>
            <a:ext cx="5755351" cy="1087656"/>
          </a:xfrm>
        </p:spPr>
        <p:txBody>
          <a:bodyPr vert="horz" lIns="91440" tIns="45720" rIns="91440" bIns="45720" rtlCol="0" anchor="b">
            <a:normAutofit/>
          </a:bodyPr>
          <a:lstStyle/>
          <a:p>
            <a:r>
              <a:rPr lang="en-US" sz="4200" kern="1200">
                <a:solidFill>
                  <a:schemeClr val="accent1"/>
                </a:solidFill>
                <a:latin typeface="+mj-lt"/>
                <a:ea typeface="+mj-ea"/>
                <a:cs typeface="+mj-cs"/>
              </a:rPr>
              <a:t>Git &amp; Source Control</a:t>
            </a:r>
          </a:p>
        </p:txBody>
      </p:sp>
      <p:sp>
        <p:nvSpPr>
          <p:cNvPr id="3" name="Content Placeholder 2"/>
          <p:cNvSpPr>
            <a:spLocks noGrp="1"/>
          </p:cNvSpPr>
          <p:nvPr>
            <p:ph idx="1"/>
          </p:nvPr>
        </p:nvSpPr>
        <p:spPr>
          <a:xfrm>
            <a:off x="1256096" y="5659655"/>
            <a:ext cx="5699404" cy="611896"/>
          </a:xfrm>
        </p:spPr>
        <p:txBody>
          <a:bodyPr vert="horz" lIns="91440" tIns="45720" rIns="91440" bIns="45720" rtlCol="0" anchor="t">
            <a:normAutofit/>
          </a:bodyPr>
          <a:lstStyle/>
          <a:p>
            <a:pPr marL="0" indent="0">
              <a:buNone/>
            </a:pPr>
            <a:r>
              <a:rPr lang="en-US">
                <a:solidFill>
                  <a:schemeClr val="tx1">
                    <a:lumMod val="50000"/>
                    <a:lumOff val="50000"/>
                  </a:schemeClr>
                </a:solidFill>
              </a:rPr>
              <a:t>An introduction to Git and version control systems</a:t>
            </a:r>
          </a:p>
        </p:txBody>
      </p:sp>
      <p:pic>
        <p:nvPicPr>
          <p:cNvPr id="4102" name="Picture 6" descr="GitHub And Git Version Control Workflow ...">
            <a:extLst>
              <a:ext uri="{FF2B5EF4-FFF2-40B4-BE49-F238E27FC236}">
                <a16:creationId xmlns:a16="http://schemas.microsoft.com/office/drawing/2014/main" id="{2203C2CA-7A24-DE90-2248-1D36966ED17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00150" y="2280962"/>
            <a:ext cx="5718872" cy="19709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153" name="Rectangle 6152">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55" name="Straight Connector 6154">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157" name="Straight Connector 6156">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6159"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161"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163" name="Isosceles Triangle 6162">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165"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167" name="Isosceles Triangle 6166">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169" name="Freeform: Shape 6168">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8467"/>
            <a:ext cx="4495777"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5386292" y="609600"/>
            <a:ext cx="3384742" cy="2227730"/>
          </a:xfrm>
        </p:spPr>
        <p:txBody>
          <a:bodyPr anchor="ctr">
            <a:normAutofit/>
          </a:bodyPr>
          <a:lstStyle/>
          <a:p>
            <a:r>
              <a:rPr lang="en-GB">
                <a:solidFill>
                  <a:srgbClr val="FFFFFF"/>
                </a:solidFill>
              </a:rPr>
              <a:t>What is Source Control?</a:t>
            </a:r>
          </a:p>
        </p:txBody>
      </p:sp>
      <p:pic>
        <p:nvPicPr>
          <p:cNvPr id="6146" name="Picture 2" descr="Mastering Version Control: A Developer ...">
            <a:extLst>
              <a:ext uri="{FF2B5EF4-FFF2-40B4-BE49-F238E27FC236}">
                <a16:creationId xmlns:a16="http://schemas.microsoft.com/office/drawing/2014/main" id="{7BA82FE6-D100-0C9D-B9E4-E574E31ECBC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7938" y="2750304"/>
            <a:ext cx="2892580" cy="144629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386293" y="2837329"/>
            <a:ext cx="3384741" cy="3317938"/>
          </a:xfrm>
        </p:spPr>
        <p:txBody>
          <a:bodyPr anchor="t">
            <a:normAutofit/>
          </a:bodyPr>
          <a:lstStyle/>
          <a:p>
            <a:r>
              <a:rPr lang="en-GB" dirty="0">
                <a:solidFill>
                  <a:srgbClr val="FFFFFF"/>
                </a:solidFill>
              </a:rPr>
              <a:t>Source control, also called version control, is a system that helps developers track and manage changes to their code or files over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49FE8-3755-DEA9-47A9-CA6CC83BB168}"/>
              </a:ext>
            </a:extLst>
          </p:cNvPr>
          <p:cNvSpPr>
            <a:spLocks noGrp="1"/>
          </p:cNvSpPr>
          <p:nvPr>
            <p:ph type="title"/>
          </p:nvPr>
        </p:nvSpPr>
        <p:spPr/>
        <p:txBody>
          <a:bodyPr/>
          <a:lstStyle/>
          <a:p>
            <a:r>
              <a:rPr lang="en-US" dirty="0"/>
              <a:t>Use of version control</a:t>
            </a:r>
            <a:endParaRPr lang="en-GB" dirty="0"/>
          </a:p>
        </p:txBody>
      </p:sp>
      <p:sp>
        <p:nvSpPr>
          <p:cNvPr id="4" name="Rectangle 1">
            <a:extLst>
              <a:ext uri="{FF2B5EF4-FFF2-40B4-BE49-F238E27FC236}">
                <a16:creationId xmlns:a16="http://schemas.microsoft.com/office/drawing/2014/main" id="{CB2AF93F-2367-9A03-CB63-57C98269C754}"/>
              </a:ext>
            </a:extLst>
          </p:cNvPr>
          <p:cNvSpPr>
            <a:spLocks noGrp="1" noChangeArrowheads="1"/>
          </p:cNvSpPr>
          <p:nvPr>
            <p:ph idx="1"/>
          </p:nvPr>
        </p:nvSpPr>
        <p:spPr bwMode="auto">
          <a:xfrm>
            <a:off x="884903" y="2615847"/>
            <a:ext cx="696124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indent="-342900" defTabSz="914400" eaLnBrk="0" fontAlgn="base" hangingPunct="0">
              <a:spcBef>
                <a:spcPct val="0"/>
              </a:spcBef>
              <a:spcAft>
                <a:spcPct val="0"/>
              </a:spcAft>
              <a:buClrTx/>
              <a:buSzTx/>
              <a:buFont typeface="+mj-lt"/>
              <a:buAutoNum type="arabicPeriod"/>
            </a:pPr>
            <a:r>
              <a:rPr kumimoji="0" lang="en-US" altLang="en-US" sz="1800" b="1" i="0" u="none" strike="noStrike" cap="none" normalizeH="0" baseline="0" dirty="0">
                <a:ln>
                  <a:noFill/>
                </a:ln>
                <a:solidFill>
                  <a:schemeClr val="tx1"/>
                </a:solidFill>
                <a:effectLst/>
                <a:latin typeface="Arial" panose="020B0604020202020204" pitchFamily="34" charset="0"/>
              </a:rPr>
              <a:t>Tracks changes:</a:t>
            </a:r>
            <a:r>
              <a:rPr kumimoji="0" lang="en-US" altLang="en-US" sz="1800" b="0" i="0" u="none" strike="noStrike" cap="none" normalizeH="0" baseline="0" dirty="0">
                <a:ln>
                  <a:noFill/>
                </a:ln>
                <a:solidFill>
                  <a:schemeClr val="tx1"/>
                </a:solidFill>
                <a:effectLst/>
                <a:latin typeface="Arial" panose="020B0604020202020204" pitchFamily="34" charset="0"/>
              </a:rPr>
              <a:t> Every modification to your code is recorded, so you can go back to previous versions if needed.</a:t>
            </a:r>
          </a:p>
          <a:p>
            <a:pPr lvl="1" indent="-342900" defTabSz="914400" eaLnBrk="0" fontAlgn="base" hangingPunct="0">
              <a:spcBef>
                <a:spcPct val="0"/>
              </a:spcBef>
              <a:spcAft>
                <a:spcPct val="0"/>
              </a:spcAft>
              <a:buClrTx/>
              <a:buSzTx/>
              <a:buFont typeface="+mj-lt"/>
              <a:buAutoNum type="arabicPeriod"/>
            </a:pPr>
            <a:r>
              <a:rPr kumimoji="0" lang="en-US" altLang="en-US" sz="1800" b="1" i="0" u="none" strike="noStrike" cap="none" normalizeH="0" baseline="0" dirty="0">
                <a:ln>
                  <a:noFill/>
                </a:ln>
                <a:solidFill>
                  <a:schemeClr val="tx1"/>
                </a:solidFill>
                <a:effectLst/>
                <a:latin typeface="Arial" panose="020B0604020202020204" pitchFamily="34" charset="0"/>
              </a:rPr>
              <a:t>Collaboration:</a:t>
            </a:r>
            <a:r>
              <a:rPr kumimoji="0" lang="en-US" altLang="en-US" sz="1800" b="0" i="0" u="none" strike="noStrike" cap="none" normalizeH="0" baseline="0" dirty="0">
                <a:ln>
                  <a:noFill/>
                </a:ln>
                <a:solidFill>
                  <a:schemeClr val="tx1"/>
                </a:solidFill>
                <a:effectLst/>
                <a:latin typeface="Arial" panose="020B0604020202020204" pitchFamily="34" charset="0"/>
              </a:rPr>
              <a:t> Multiple developers can work on the same project simultaneously without overwriting each other’s work.</a:t>
            </a:r>
          </a:p>
          <a:p>
            <a:pPr lvl="1" indent="-342900" defTabSz="914400" eaLnBrk="0" fontAlgn="base" hangingPunct="0">
              <a:spcBef>
                <a:spcPct val="0"/>
              </a:spcBef>
              <a:spcAft>
                <a:spcPct val="0"/>
              </a:spcAft>
              <a:buClrTx/>
              <a:buSzTx/>
              <a:buFont typeface="+mj-lt"/>
              <a:buAutoNum type="arabicPeriod"/>
            </a:pPr>
            <a:r>
              <a:rPr kumimoji="0" lang="en-US" altLang="en-US" sz="1800" b="1" i="0" u="none" strike="noStrike" cap="none" normalizeH="0" baseline="0" dirty="0">
                <a:ln>
                  <a:noFill/>
                </a:ln>
                <a:solidFill>
                  <a:schemeClr val="tx1"/>
                </a:solidFill>
                <a:effectLst/>
                <a:latin typeface="Arial" panose="020B0604020202020204" pitchFamily="34" charset="0"/>
              </a:rPr>
              <a:t>Branching &amp; Merging:</a:t>
            </a:r>
            <a:r>
              <a:rPr kumimoji="0" lang="en-US" altLang="en-US" sz="1800" b="0" i="0" u="none" strike="noStrike" cap="none" normalizeH="0" baseline="0" dirty="0">
                <a:ln>
                  <a:noFill/>
                </a:ln>
                <a:solidFill>
                  <a:schemeClr val="tx1"/>
                </a:solidFill>
                <a:effectLst/>
                <a:latin typeface="Arial" panose="020B0604020202020204" pitchFamily="34" charset="0"/>
              </a:rPr>
              <a:t> You can create separate “branches” to try new features, then merge them back when ready.</a:t>
            </a:r>
          </a:p>
        </p:txBody>
      </p:sp>
    </p:spTree>
    <p:extLst>
      <p:ext uri="{BB962C8B-B14F-4D97-AF65-F5344CB8AC3E}">
        <p14:creationId xmlns:p14="http://schemas.microsoft.com/office/powerpoint/2010/main" val="3712636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5129" name="Rectangle 5128">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31" name="Straight Connector 5130">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33" name="Straight Connector 5132">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5135"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137"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139" name="Isosceles Triangle 5138">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141"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143" name="Isosceles Triangle 5142">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145" name="Freeform: Shape 5144">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8467"/>
            <a:ext cx="4495777"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5386292" y="609600"/>
            <a:ext cx="3384742" cy="2227730"/>
          </a:xfrm>
        </p:spPr>
        <p:txBody>
          <a:bodyPr anchor="ctr">
            <a:normAutofit/>
          </a:bodyPr>
          <a:lstStyle/>
          <a:p>
            <a:r>
              <a:rPr lang="en-GB">
                <a:solidFill>
                  <a:srgbClr val="FFFFFF"/>
                </a:solidFill>
              </a:rPr>
              <a:t>Introduction to Git</a:t>
            </a:r>
          </a:p>
        </p:txBody>
      </p:sp>
      <p:sp>
        <p:nvSpPr>
          <p:cNvPr id="3" name="Content Placeholder 2"/>
          <p:cNvSpPr>
            <a:spLocks noGrp="1"/>
          </p:cNvSpPr>
          <p:nvPr>
            <p:ph idx="1"/>
          </p:nvPr>
        </p:nvSpPr>
        <p:spPr>
          <a:xfrm>
            <a:off x="5386293" y="2837329"/>
            <a:ext cx="3384741" cy="3317938"/>
          </a:xfrm>
        </p:spPr>
        <p:txBody>
          <a:bodyPr anchor="t">
            <a:normAutofit/>
          </a:bodyPr>
          <a:lstStyle/>
          <a:p>
            <a:r>
              <a:rPr lang="en-GB">
                <a:solidFill>
                  <a:srgbClr val="FFFFFF"/>
                </a:solidFill>
              </a:rPr>
              <a:t>Git is a distributed version control system used to track changes in source code.</a:t>
            </a:r>
          </a:p>
          <a:p>
            <a:r>
              <a:rPr lang="en-GB">
                <a:solidFill>
                  <a:srgbClr val="FFFFFF"/>
                </a:solidFill>
              </a:rPr>
              <a:t>Created in 2005 by Linus Torvalds for Linux kernel development.</a:t>
            </a:r>
          </a:p>
          <a:p>
            <a:endParaRPr lang="en-GB">
              <a:solidFill>
                <a:srgbClr val="FFFFFF"/>
              </a:solidFill>
            </a:endParaRPr>
          </a:p>
        </p:txBody>
      </p:sp>
      <p:pic>
        <p:nvPicPr>
          <p:cNvPr id="5124" name="Picture 4" descr="Learn What Is Git? | Introduction to Git">
            <a:extLst>
              <a:ext uri="{FF2B5EF4-FFF2-40B4-BE49-F238E27FC236}">
                <a16:creationId xmlns:a16="http://schemas.microsoft.com/office/drawing/2014/main" id="{FE4FE85F-BBF6-142B-17DE-5644F40576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858" y="2775877"/>
            <a:ext cx="3314700" cy="1381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Use Git?</a:t>
            </a:r>
          </a:p>
        </p:txBody>
      </p:sp>
      <p:sp>
        <p:nvSpPr>
          <p:cNvPr id="3" name="Content Placeholder 2"/>
          <p:cNvSpPr>
            <a:spLocks noGrp="1"/>
          </p:cNvSpPr>
          <p:nvPr>
            <p:ph idx="1"/>
          </p:nvPr>
        </p:nvSpPr>
        <p:spPr/>
        <p:txBody>
          <a:bodyPr/>
          <a:lstStyle/>
          <a:p>
            <a:r>
              <a:t>Collaboration</a:t>
            </a:r>
          </a:p>
          <a:p>
            <a:r>
              <a:t>Backup &amp; recovery</a:t>
            </a:r>
          </a:p>
          <a:p>
            <a:r>
              <a:t>Branching &amp; merging</a:t>
            </a:r>
          </a:p>
          <a:p>
            <a:r>
              <a:t>Rollback</a:t>
            </a:r>
          </a:p>
          <a:p>
            <a:r>
              <a:t>History tracking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Features of Git</a:t>
            </a:r>
          </a:p>
        </p:txBody>
      </p:sp>
      <p:sp>
        <p:nvSpPr>
          <p:cNvPr id="3" name="Content Placeholder 2"/>
          <p:cNvSpPr>
            <a:spLocks noGrp="1"/>
          </p:cNvSpPr>
          <p:nvPr>
            <p:ph idx="1"/>
          </p:nvPr>
        </p:nvSpPr>
        <p:spPr/>
        <p:txBody>
          <a:bodyPr>
            <a:normAutofit fontScale="77500" lnSpcReduction="20000"/>
          </a:bodyPr>
          <a:lstStyle/>
          <a:p>
            <a:r>
              <a:rPr lang="en-GB" sz="3000" b="1" dirty="0"/>
              <a:t>Distributed VCS</a:t>
            </a:r>
            <a:r>
              <a:rPr lang="en-GB" sz="3000" dirty="0"/>
              <a:t> – Every user has a full copy of the repository for independent work.</a:t>
            </a:r>
          </a:p>
          <a:p>
            <a:r>
              <a:rPr lang="en-GB" sz="3000" b="1" dirty="0"/>
              <a:t>Fast performance</a:t>
            </a:r>
            <a:r>
              <a:rPr lang="en-GB" sz="3000" dirty="0"/>
              <a:t> – Git operates quickly, even with large projects.</a:t>
            </a:r>
          </a:p>
          <a:p>
            <a:r>
              <a:rPr lang="en-GB" sz="3000" b="1" dirty="0"/>
              <a:t>Strong branching &amp; merging</a:t>
            </a:r>
            <a:r>
              <a:rPr lang="en-GB" sz="3000" dirty="0"/>
              <a:t> – Easily create, switch, and combine branches without conflicts.</a:t>
            </a:r>
          </a:p>
          <a:p>
            <a:r>
              <a:rPr lang="en-GB" sz="3000" b="1" dirty="0"/>
              <a:t>High security</a:t>
            </a:r>
            <a:r>
              <a:rPr lang="en-GB" sz="3000" dirty="0"/>
              <a:t> – Data is safely stored and changes are tracked with integrity.</a:t>
            </a:r>
          </a:p>
          <a:p>
            <a:r>
              <a:rPr lang="en-GB" sz="3000" b="1" dirty="0"/>
              <a:t>Open source</a:t>
            </a:r>
            <a:r>
              <a:rPr lang="en-GB" sz="3000" dirty="0"/>
              <a:t> – Free to use, modify, and share by anyone.</a:t>
            </a:r>
          </a:p>
          <a:p>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Git Terminologies</a:t>
            </a:r>
          </a:p>
        </p:txBody>
      </p:sp>
      <p:sp>
        <p:nvSpPr>
          <p:cNvPr id="5" name="Rectangle 2">
            <a:extLst>
              <a:ext uri="{FF2B5EF4-FFF2-40B4-BE49-F238E27FC236}">
                <a16:creationId xmlns:a16="http://schemas.microsoft.com/office/drawing/2014/main" id="{D97F3409-E6A4-FEA3-EBDA-C6519332E5F8}"/>
              </a:ext>
            </a:extLst>
          </p:cNvPr>
          <p:cNvSpPr>
            <a:spLocks noGrp="1" noChangeArrowheads="1"/>
          </p:cNvSpPr>
          <p:nvPr>
            <p:ph idx="1"/>
          </p:nvPr>
        </p:nvSpPr>
        <p:spPr bwMode="auto">
          <a:xfrm>
            <a:off x="457200" y="2990590"/>
            <a:ext cx="813619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Repository</a:t>
            </a:r>
            <a:r>
              <a:rPr kumimoji="0" lang="en-US" altLang="en-US" sz="2000" b="0" i="0" u="none" strike="noStrike" cap="none" normalizeH="0" baseline="0" dirty="0">
                <a:ln>
                  <a:noFill/>
                </a:ln>
                <a:solidFill>
                  <a:schemeClr val="tx1"/>
                </a:solidFill>
                <a:effectLst/>
                <a:latin typeface="Arial" panose="020B0604020202020204" pitchFamily="34" charset="0"/>
              </a:rPr>
              <a:t> – A place where all project files and history are stored.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Commit</a:t>
            </a:r>
            <a:r>
              <a:rPr kumimoji="0" lang="en-US" altLang="en-US" sz="2000" b="0" i="0" u="none" strike="noStrike" cap="none" normalizeH="0" baseline="0" dirty="0">
                <a:ln>
                  <a:noFill/>
                </a:ln>
                <a:solidFill>
                  <a:schemeClr val="tx1"/>
                </a:solidFill>
                <a:effectLst/>
                <a:latin typeface="Arial" panose="020B0604020202020204" pitchFamily="34" charset="0"/>
              </a:rPr>
              <a:t> – A saved snapshot of your changes in the project.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Branch</a:t>
            </a:r>
            <a:r>
              <a:rPr kumimoji="0" lang="en-US" altLang="en-US" sz="2000" b="0" i="0" u="none" strike="noStrike" cap="none" normalizeH="0" baseline="0" dirty="0">
                <a:ln>
                  <a:noFill/>
                </a:ln>
                <a:solidFill>
                  <a:schemeClr val="tx1"/>
                </a:solidFill>
                <a:effectLst/>
                <a:latin typeface="Arial" panose="020B0604020202020204" pitchFamily="34" charset="0"/>
              </a:rPr>
              <a:t> – A separate version of the project to work on new ideas.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Merge</a:t>
            </a:r>
            <a:r>
              <a:rPr kumimoji="0" lang="en-US" altLang="en-US" sz="2000" b="0" i="0" u="none" strike="noStrike" cap="none" normalizeH="0" baseline="0" dirty="0">
                <a:ln>
                  <a:noFill/>
                </a:ln>
                <a:solidFill>
                  <a:schemeClr val="tx1"/>
                </a:solidFill>
                <a:effectLst/>
                <a:latin typeface="Arial" panose="020B0604020202020204" pitchFamily="34" charset="0"/>
              </a:rPr>
              <a:t> – Combining changes from different branches into one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Remote</a:t>
            </a:r>
            <a:r>
              <a:rPr kumimoji="0" lang="en-US" altLang="en-US" sz="2000" b="0" i="0" u="none" strike="noStrike" cap="none" normalizeH="0" baseline="0" dirty="0">
                <a:ln>
                  <a:noFill/>
                </a:ln>
                <a:solidFill>
                  <a:schemeClr val="tx1"/>
                </a:solidFill>
                <a:effectLst/>
                <a:latin typeface="Arial" panose="020B0604020202020204" pitchFamily="34" charset="0"/>
              </a:rPr>
              <a:t> – An online version of the repository shared with others.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Git Commands</a:t>
            </a:r>
          </a:p>
        </p:txBody>
      </p:sp>
      <p:sp>
        <p:nvSpPr>
          <p:cNvPr id="4" name="Rectangle 1">
            <a:extLst>
              <a:ext uri="{FF2B5EF4-FFF2-40B4-BE49-F238E27FC236}">
                <a16:creationId xmlns:a16="http://schemas.microsoft.com/office/drawing/2014/main" id="{12F7035E-DEF4-60F2-D757-BBB9A4367E6F}"/>
              </a:ext>
            </a:extLst>
          </p:cNvPr>
          <p:cNvSpPr>
            <a:spLocks noGrp="1" noChangeArrowheads="1"/>
          </p:cNvSpPr>
          <p:nvPr>
            <p:ph idx="1"/>
          </p:nvPr>
        </p:nvSpPr>
        <p:spPr bwMode="auto">
          <a:xfrm>
            <a:off x="457200" y="1708745"/>
            <a:ext cx="8964313"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git </a:t>
            </a:r>
            <a:r>
              <a:rPr kumimoji="0" lang="en-US" altLang="en-US" sz="1600" b="1" i="0" u="none" strike="noStrike" cap="none" normalizeH="0" baseline="0" dirty="0" err="1">
                <a:ln>
                  <a:noFill/>
                </a:ln>
                <a:solidFill>
                  <a:schemeClr val="tx1"/>
                </a:solidFill>
                <a:effectLst/>
                <a:latin typeface="Arial" panose="020B0604020202020204" pitchFamily="34" charset="0"/>
              </a:rPr>
              <a:t>init</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Initializes a new Git repository in the current folder.</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It starts tracking changes in that project.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git clone</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Creates a copy of an existing remote repository (for example, from GitHub) on your local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git status</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Shows the current state of the working directory.</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It tells you which files are modified, staged, or untracked.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git add</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Adds files to the staging area.</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This prepares the files to be included in the next commit.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git commit</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Saves the staged changes to the repository with a message describing what was changed.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git pull</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Fetches changes from the remote repository and merges them into your local branch.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git push</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Uploads your local commits to the remote repository so others can see them</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Git Workflow</a:t>
            </a:r>
          </a:p>
        </p:txBody>
      </p:sp>
      <p:sp>
        <p:nvSpPr>
          <p:cNvPr id="3" name="Content Placeholder 2"/>
          <p:cNvSpPr>
            <a:spLocks noGrp="1"/>
          </p:cNvSpPr>
          <p:nvPr>
            <p:ph idx="1"/>
          </p:nvPr>
        </p:nvSpPr>
        <p:spPr/>
        <p:txBody>
          <a:bodyPr>
            <a:normAutofit fontScale="85000" lnSpcReduction="10000"/>
          </a:bodyPr>
          <a:lstStyle/>
          <a:p>
            <a:r>
              <a:rPr sz="2400" dirty="0"/>
              <a:t>Create repository → Clone → Modify → Stage → Commit → Push</a:t>
            </a:r>
            <a:endParaRPr lang="en-US" sz="2400" dirty="0"/>
          </a:p>
          <a:p>
            <a:pPr marL="0" indent="0">
              <a:buNone/>
            </a:pPr>
            <a:endParaRPr lang="en-US" sz="2400" dirty="0"/>
          </a:p>
          <a:p>
            <a:r>
              <a:rPr lang="en-GB" sz="2400" b="1" dirty="0"/>
              <a:t>Create Repository</a:t>
            </a:r>
            <a:r>
              <a:rPr lang="en-GB" sz="2400" dirty="0"/>
              <a:t> – Make a new project repo.</a:t>
            </a:r>
          </a:p>
          <a:p>
            <a:r>
              <a:rPr lang="en-GB" sz="2400" b="1" dirty="0"/>
              <a:t>Clone</a:t>
            </a:r>
            <a:r>
              <a:rPr lang="en-GB" sz="2400" dirty="0"/>
              <a:t> – Copy it to your local system.</a:t>
            </a:r>
          </a:p>
          <a:p>
            <a:r>
              <a:rPr lang="en-GB" sz="2400" b="1" dirty="0"/>
              <a:t>Modify</a:t>
            </a:r>
            <a:r>
              <a:rPr lang="en-GB" sz="2400" dirty="0"/>
              <a:t> – Change or add files.</a:t>
            </a:r>
          </a:p>
          <a:p>
            <a:r>
              <a:rPr lang="en-GB" sz="2400" b="1" dirty="0"/>
              <a:t>Stage</a:t>
            </a:r>
            <a:r>
              <a:rPr lang="en-GB" sz="2400" dirty="0"/>
              <a:t> – Prepare files for commit (git add).</a:t>
            </a:r>
          </a:p>
          <a:p>
            <a:r>
              <a:rPr lang="en-GB" sz="2400" b="1" dirty="0"/>
              <a:t>Commit</a:t>
            </a:r>
            <a:r>
              <a:rPr lang="en-GB" sz="2400" dirty="0"/>
              <a:t> – Save changes locally with a message.</a:t>
            </a:r>
          </a:p>
          <a:p>
            <a:r>
              <a:rPr lang="en-GB" sz="2400" b="1" dirty="0"/>
              <a:t>Push</a:t>
            </a:r>
            <a:r>
              <a:rPr lang="en-GB" sz="2400" dirty="0"/>
              <a:t> – Upload changes to the remote repo.</a:t>
            </a:r>
          </a:p>
          <a:p>
            <a:pPr marL="0" indent="0">
              <a:buNone/>
            </a:pPr>
            <a:endParaRPr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Git Branching</a:t>
            </a:r>
          </a:p>
        </p:txBody>
      </p:sp>
      <p:sp>
        <p:nvSpPr>
          <p:cNvPr id="3" name="Content Placeholder 2"/>
          <p:cNvSpPr>
            <a:spLocks noGrp="1"/>
          </p:cNvSpPr>
          <p:nvPr>
            <p:ph idx="1"/>
          </p:nvPr>
        </p:nvSpPr>
        <p:spPr/>
        <p:txBody>
          <a:bodyPr/>
          <a:lstStyle/>
          <a:p>
            <a:r>
              <a:rPr lang="en-GB" b="1" dirty="0"/>
              <a:t>Git Branching</a:t>
            </a:r>
            <a:r>
              <a:rPr lang="en-GB" dirty="0"/>
              <a:t> allows you to create separate versions of your project to work on new features or fixes without affecting the main code. </a:t>
            </a:r>
          </a:p>
          <a:p>
            <a:r>
              <a:rPr lang="en-GB" dirty="0"/>
              <a:t>It makes experimenting, developing, and collaborating easier by keeping changes isolated until ready to merge.</a:t>
            </a:r>
          </a:p>
          <a:p>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Git vs GitHub</a:t>
            </a:r>
          </a:p>
        </p:txBody>
      </p:sp>
      <p:sp>
        <p:nvSpPr>
          <p:cNvPr id="3" name="Content Placeholder 2"/>
          <p:cNvSpPr>
            <a:spLocks noGrp="1"/>
          </p:cNvSpPr>
          <p:nvPr>
            <p:ph idx="1"/>
          </p:nvPr>
        </p:nvSpPr>
        <p:spPr/>
        <p:txBody>
          <a:bodyPr>
            <a:normAutofit fontScale="85000" lnSpcReduction="10000"/>
          </a:bodyPr>
          <a:lstStyle/>
          <a:p>
            <a:r>
              <a:rPr lang="en-GB" sz="2800" dirty="0"/>
              <a:t>Git is a powerful version control system that helps developers track and manage changes in their code efficiently.</a:t>
            </a:r>
          </a:p>
          <a:p>
            <a:r>
              <a:rPr lang="en-GB" sz="2800" dirty="0"/>
              <a:t> GitHub is an online platform that hosts Git repositories, making it easy to collaborate with others, share projects, review code, and manage development workflows seamlessly. It combines version control with social coding features for teams and open-source projects.</a:t>
            </a:r>
            <a:endParaRPr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Applications of Git</a:t>
            </a:r>
          </a:p>
        </p:txBody>
      </p:sp>
      <p:sp>
        <p:nvSpPr>
          <p:cNvPr id="3" name="Content Placeholder 2"/>
          <p:cNvSpPr>
            <a:spLocks noGrp="1"/>
          </p:cNvSpPr>
          <p:nvPr>
            <p:ph idx="1"/>
          </p:nvPr>
        </p:nvSpPr>
        <p:spPr/>
        <p:txBody>
          <a:bodyPr/>
          <a:lstStyle/>
          <a:p>
            <a:r>
              <a:t>Software development</a:t>
            </a:r>
          </a:p>
          <a:p>
            <a:r>
              <a:t>Data Science projects</a:t>
            </a:r>
          </a:p>
          <a:p>
            <a:r>
              <a:t>Open-source collaboration</a:t>
            </a:r>
          </a:p>
          <a:p>
            <a:r>
              <a:t>Enterprise systems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rPr dirty="0"/>
              <a:t>Git and source control improve collaboration, productivity, and code quality.</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958</TotalTime>
  <Words>645</Words>
  <Application>Microsoft Office PowerPoint</Application>
  <PresentationFormat>On-screen Show (4:3)</PresentationFormat>
  <Paragraphs>63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Trebuchet MS</vt:lpstr>
      <vt:lpstr>Wingdings 3</vt:lpstr>
      <vt:lpstr>Facet</vt:lpstr>
      <vt:lpstr>Git &amp; Source Control</vt:lpstr>
      <vt:lpstr>What is Source Control?</vt:lpstr>
      <vt:lpstr>Use of version control</vt:lpstr>
      <vt:lpstr>Introduction to Git</vt:lpstr>
      <vt:lpstr>Why Use Git?</vt:lpstr>
      <vt:lpstr>Key Features of Git</vt:lpstr>
      <vt:lpstr>Basic Git Terminologies</vt:lpstr>
      <vt:lpstr>Common Git Commands</vt:lpstr>
      <vt:lpstr>Git Workflow</vt:lpstr>
      <vt:lpstr>Git Branching</vt:lpstr>
      <vt:lpstr>Git vs GitHub</vt:lpstr>
      <vt:lpstr>Applications of Git</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55956-Divyansh Raiswal</cp:lastModifiedBy>
  <cp:revision>2</cp:revision>
  <dcterms:created xsi:type="dcterms:W3CDTF">2013-01-27T09:14:16Z</dcterms:created>
  <dcterms:modified xsi:type="dcterms:W3CDTF">2025-12-18T03:21:33Z</dcterms:modified>
  <cp:category/>
</cp:coreProperties>
</file>